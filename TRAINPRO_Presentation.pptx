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Anton" charset="1" panose="00000500000000000000"/>
      <p:regular r:id="rId23"/>
    </p:embeddedFont>
    <p:embeddedFont>
      <p:font typeface="DM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Relationship Id="rId5" Target="../embeddings/oleObject4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6C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92133" y="5664795"/>
            <a:ext cx="8138371" cy="5233815"/>
          </a:xfrm>
          <a:custGeom>
            <a:avLst/>
            <a:gdLst/>
            <a:ahLst/>
            <a:cxnLst/>
            <a:rect r="r" b="b" t="t" l="l"/>
            <a:pathLst>
              <a:path h="5233815" w="8138371">
                <a:moveTo>
                  <a:pt x="0" y="0"/>
                </a:moveTo>
                <a:lnTo>
                  <a:pt x="8138371" y="0"/>
                </a:lnTo>
                <a:lnTo>
                  <a:pt x="8138371" y="5233814"/>
                </a:lnTo>
                <a:lnTo>
                  <a:pt x="0" y="5233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546147" y="4612428"/>
            <a:ext cx="7845525" cy="5674572"/>
          </a:xfrm>
          <a:custGeom>
            <a:avLst/>
            <a:gdLst/>
            <a:ahLst/>
            <a:cxnLst/>
            <a:rect r="r" b="b" t="t" l="l"/>
            <a:pathLst>
              <a:path h="5674572" w="7845525">
                <a:moveTo>
                  <a:pt x="0" y="0"/>
                </a:moveTo>
                <a:lnTo>
                  <a:pt x="7845525" y="0"/>
                </a:lnTo>
                <a:lnTo>
                  <a:pt x="7845525" y="5674572"/>
                </a:lnTo>
                <a:lnTo>
                  <a:pt x="0" y="567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0215" y="2314770"/>
            <a:ext cx="17387503" cy="758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b="true" sz="5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TRAINPRO</a:t>
            </a:r>
          </a:p>
          <a:p>
            <a:pPr algn="ctr">
              <a:lnSpc>
                <a:spcPts val="7560"/>
              </a:lnSpc>
            </a:pPr>
            <a:r>
              <a:rPr lang="en-US" sz="5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</a:t>
            </a:r>
            <a:r>
              <a:rPr lang="en-US" b="true" sz="5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AINING INSTITUTE MANAGEMENT &amp; ANALYTICS SYSTEM</a:t>
            </a:r>
          </a:p>
          <a:p>
            <a:pPr algn="ctr">
              <a:lnSpc>
                <a:spcPts val="7560"/>
              </a:lnSpc>
            </a:pPr>
            <a:r>
              <a:rPr lang="en-US" b="true" sz="5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DBMS MINI PROJECT | MYSQL 8.0+</a:t>
            </a:r>
          </a:p>
          <a:p>
            <a:pPr algn="ctr">
              <a:lnSpc>
                <a:spcPts val="7560"/>
              </a:lnSpc>
            </a:pPr>
            <a:r>
              <a:rPr lang="en-US" b="true" sz="5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B.SC. DATA SCIENCE — SEMESTER III | ACADEMIC YEAR 2026–2027</a:t>
            </a:r>
          </a:p>
          <a:p>
            <a:pPr algn="ctr">
              <a:lnSpc>
                <a:spcPts val="7560"/>
              </a:lnSpc>
            </a:pPr>
            <a:r>
              <a:rPr lang="en-US" b="true" sz="54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PREPARED BY: ARYAN BOCHARE</a:t>
            </a:r>
          </a:p>
          <a:p>
            <a:pPr algn="ctr">
              <a:lnSpc>
                <a:spcPts val="75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962025"/>
            <a:ext cx="8115300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aryanbochare4@gmail.com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3639" y="3378672"/>
            <a:ext cx="13454999" cy="3902067"/>
            <a:chOff x="0" y="0"/>
            <a:chExt cx="3543703" cy="1027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3703" cy="1027705"/>
            </a:xfrm>
            <a:custGeom>
              <a:avLst/>
              <a:gdLst/>
              <a:ahLst/>
              <a:cxnLst/>
              <a:rect r="r" b="b" t="t" l="l"/>
              <a:pathLst>
                <a:path h="1027705" w="3543703">
                  <a:moveTo>
                    <a:pt x="0" y="0"/>
                  </a:moveTo>
                  <a:lnTo>
                    <a:pt x="3543703" y="0"/>
                  </a:lnTo>
                  <a:lnTo>
                    <a:pt x="3543703" y="1027705"/>
                  </a:lnTo>
                  <a:lnTo>
                    <a:pt x="0" y="1027705"/>
                  </a:lnTo>
                  <a:close/>
                </a:path>
              </a:pathLst>
            </a:custGeom>
            <a:solidFill>
              <a:srgbClr val="2B6CB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543703" cy="1103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relational database system for managing a training institute.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Manages students, trainers, courses, batches, enrollments, attendance and assessment results.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Provides analytical reports for enrollment, attendance and performance.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Demonstrates database planning, relationships, SQL queries and business analysis.</a:t>
              </a:r>
            </a:p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628223" y="5945396"/>
            <a:ext cx="6486666" cy="5482858"/>
          </a:xfrm>
          <a:custGeom>
            <a:avLst/>
            <a:gdLst/>
            <a:ahLst/>
            <a:cxnLst/>
            <a:rect r="r" b="b" t="t" l="l"/>
            <a:pathLst>
              <a:path h="5482858" w="6486666">
                <a:moveTo>
                  <a:pt x="0" y="0"/>
                </a:moveTo>
                <a:lnTo>
                  <a:pt x="6486667" y="0"/>
                </a:lnTo>
                <a:lnTo>
                  <a:pt x="6486667" y="5482858"/>
                </a:lnTo>
                <a:lnTo>
                  <a:pt x="0" y="5482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95938" y="6069918"/>
            <a:ext cx="8138371" cy="5233815"/>
          </a:xfrm>
          <a:custGeom>
            <a:avLst/>
            <a:gdLst/>
            <a:ahLst/>
            <a:cxnLst/>
            <a:rect r="r" b="b" t="t" l="l"/>
            <a:pathLst>
              <a:path h="5233815" w="8138371">
                <a:moveTo>
                  <a:pt x="0" y="0"/>
                </a:moveTo>
                <a:lnTo>
                  <a:pt x="8138371" y="0"/>
                </a:lnTo>
                <a:lnTo>
                  <a:pt x="8138371" y="5233814"/>
                </a:lnTo>
                <a:lnTo>
                  <a:pt x="0" y="5233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5692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PROJECT OVERVIEW</a:t>
            </a:r>
          </a:p>
          <a:p>
            <a:pPr algn="ctr">
              <a:lnSpc>
                <a:spcPts val="139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213144" y="2937347"/>
            <a:ext cx="576799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Data Analytics?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3753" y="7860382"/>
            <a:ext cx="567865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Takeaways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17588" y="2937347"/>
            <a:ext cx="85596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9877" y="7860382"/>
            <a:ext cx="85596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5635" y="2937347"/>
            <a:ext cx="85596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2306939" y="-2165087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9430" y="3924303"/>
            <a:ext cx="5971254" cy="4114800"/>
          </a:xfrm>
          <a:custGeom>
            <a:avLst/>
            <a:gdLst/>
            <a:ahLst/>
            <a:cxnLst/>
            <a:rect r="r" b="b" t="t" l="l"/>
            <a:pathLst>
              <a:path h="4114800" w="5971254">
                <a:moveTo>
                  <a:pt x="0" y="0"/>
                </a:moveTo>
                <a:lnTo>
                  <a:pt x="5971255" y="0"/>
                </a:lnTo>
                <a:lnTo>
                  <a:pt x="597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023550" y="939227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451559" y="3144417"/>
            <a:ext cx="7845525" cy="5674572"/>
          </a:xfrm>
          <a:custGeom>
            <a:avLst/>
            <a:gdLst/>
            <a:ahLst/>
            <a:cxnLst/>
            <a:rect r="r" b="b" t="t" l="l"/>
            <a:pathLst>
              <a:path h="5674572" w="7845525">
                <a:moveTo>
                  <a:pt x="0" y="0"/>
                </a:moveTo>
                <a:lnTo>
                  <a:pt x="7845525" y="0"/>
                </a:lnTo>
                <a:lnTo>
                  <a:pt x="7845525" y="5674571"/>
                </a:lnTo>
                <a:lnTo>
                  <a:pt x="0" y="567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49927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PROBLEM STATEMENT</a:t>
            </a:r>
          </a:p>
          <a:p>
            <a:pPr algn="l">
              <a:lnSpc>
                <a:spcPts val="139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838578"/>
            <a:ext cx="9981967" cy="481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Training institutes handle multiple types of operational data.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Separate or repeated records make maintenance and reporting difficult.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TRAINPRO organizes data into related tables using primary and foreign keys.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The database converts operational records into useful management information.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74870" y="9673688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20929" y="3991148"/>
            <a:ext cx="8138371" cy="5233815"/>
          </a:xfrm>
          <a:custGeom>
            <a:avLst/>
            <a:gdLst/>
            <a:ahLst/>
            <a:cxnLst/>
            <a:rect r="r" b="b" t="t" l="l"/>
            <a:pathLst>
              <a:path h="5233815" w="8138371">
                <a:moveTo>
                  <a:pt x="0" y="0"/>
                </a:moveTo>
                <a:lnTo>
                  <a:pt x="8138371" y="0"/>
                </a:lnTo>
                <a:lnTo>
                  <a:pt x="8138371" y="5233814"/>
                </a:lnTo>
                <a:lnTo>
                  <a:pt x="0" y="5233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60030" y="5791892"/>
            <a:ext cx="7845525" cy="5674572"/>
          </a:xfrm>
          <a:custGeom>
            <a:avLst/>
            <a:gdLst/>
            <a:ahLst/>
            <a:cxnLst/>
            <a:rect r="r" b="b" t="t" l="l"/>
            <a:pathLst>
              <a:path h="5674572" w="7845525">
                <a:moveTo>
                  <a:pt x="0" y="0"/>
                </a:moveTo>
                <a:lnTo>
                  <a:pt x="7845525" y="0"/>
                </a:lnTo>
                <a:lnTo>
                  <a:pt x="7845525" y="5674571"/>
                </a:lnTo>
                <a:lnTo>
                  <a:pt x="0" y="5674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49927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3.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OBJECTIVES</a:t>
            </a:r>
          </a:p>
          <a:p>
            <a:pPr algn="l">
              <a:lnSpc>
                <a:spcPts val="139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11230" y="3279906"/>
            <a:ext cx="7487349" cy="611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Identifies Create a structured MySQL database for a training institute.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Maintain valid relationships using primary and foreign keys.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Store realistic sample data for meaningful analysis.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Generate business reports using joins and aggregate functions.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Use views, subqueries and window functions where suitable.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Identify high enrollment, low attendance and student performance.</a:t>
            </a:r>
          </a:p>
          <a:p>
            <a:pPr algn="l">
              <a:lnSpc>
                <a:spcPts val="3750"/>
              </a:lnSpc>
            </a:pPr>
            <a:r>
              <a:rPr lang="en-US" sz="2679">
                <a:solidFill>
                  <a:srgbClr val="2B6CB4"/>
                </a:solidFill>
                <a:latin typeface="Poppins"/>
                <a:ea typeface="Poppins"/>
                <a:cs typeface="Poppins"/>
                <a:sym typeface="Poppins"/>
              </a:rPr>
              <a:t>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61988" y="791551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707817" y="7437595"/>
            <a:ext cx="9292241" cy="5458164"/>
          </a:xfrm>
          <a:custGeom>
            <a:avLst/>
            <a:gdLst/>
            <a:ahLst/>
            <a:cxnLst/>
            <a:rect r="r" b="b" t="t" l="l"/>
            <a:pathLst>
              <a:path h="5458164" w="9292241">
                <a:moveTo>
                  <a:pt x="0" y="0"/>
                </a:moveTo>
                <a:lnTo>
                  <a:pt x="9292241" y="0"/>
                </a:lnTo>
                <a:lnTo>
                  <a:pt x="9292241" y="5458164"/>
                </a:lnTo>
                <a:lnTo>
                  <a:pt x="0" y="5458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3576" y="4083391"/>
            <a:ext cx="6486666" cy="5482858"/>
          </a:xfrm>
          <a:custGeom>
            <a:avLst/>
            <a:gdLst/>
            <a:ahLst/>
            <a:cxnLst/>
            <a:rect r="r" b="b" t="t" l="l"/>
            <a:pathLst>
              <a:path h="5482858" w="6486666">
                <a:moveTo>
                  <a:pt x="0" y="0"/>
                </a:moveTo>
                <a:lnTo>
                  <a:pt x="6486666" y="0"/>
                </a:lnTo>
                <a:lnTo>
                  <a:pt x="6486666" y="5482858"/>
                </a:lnTo>
                <a:lnTo>
                  <a:pt x="0" y="5482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524112" y="2176245"/>
          <a:ext cx="14330362" cy="7132320"/>
        </p:xfrm>
        <a:graphic>
          <a:graphicData uri="http://schemas.openxmlformats.org/presentationml/2006/ole">
            <p:oleObj imgW="17183100" imgH="999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-190500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4.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DATABASE TABLES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61988" y="791551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18512" y="4784148"/>
            <a:ext cx="947934" cy="677298"/>
            <a:chOff x="0" y="0"/>
            <a:chExt cx="249662" cy="178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662" cy="178383"/>
            </a:xfrm>
            <a:custGeom>
              <a:avLst/>
              <a:gdLst/>
              <a:ahLst/>
              <a:cxnLst/>
              <a:rect r="r" b="b" t="t" l="l"/>
              <a:pathLst>
                <a:path h="178383" w="249662">
                  <a:moveTo>
                    <a:pt x="0" y="0"/>
                  </a:moveTo>
                  <a:lnTo>
                    <a:pt x="249662" y="0"/>
                  </a:lnTo>
                  <a:lnTo>
                    <a:pt x="249662" y="178383"/>
                  </a:lnTo>
                  <a:lnTo>
                    <a:pt x="0" y="178383"/>
                  </a:lnTo>
                  <a:close/>
                </a:path>
              </a:pathLst>
            </a:custGeom>
            <a:solidFill>
              <a:srgbClr val="2B6CB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49662" cy="245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18512" y="5601094"/>
            <a:ext cx="947934" cy="677298"/>
            <a:chOff x="0" y="0"/>
            <a:chExt cx="249662" cy="1783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662" cy="178383"/>
            </a:xfrm>
            <a:custGeom>
              <a:avLst/>
              <a:gdLst/>
              <a:ahLst/>
              <a:cxnLst/>
              <a:rect r="r" b="b" t="t" l="l"/>
              <a:pathLst>
                <a:path h="178383" w="249662">
                  <a:moveTo>
                    <a:pt x="0" y="0"/>
                  </a:moveTo>
                  <a:lnTo>
                    <a:pt x="249662" y="0"/>
                  </a:lnTo>
                  <a:lnTo>
                    <a:pt x="249662" y="178383"/>
                  </a:lnTo>
                  <a:lnTo>
                    <a:pt x="0" y="178383"/>
                  </a:lnTo>
                  <a:close/>
                </a:path>
              </a:pathLst>
            </a:custGeom>
            <a:solidFill>
              <a:srgbClr val="2B6CB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49662" cy="245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490420" y="1556352"/>
          <a:ext cx="12072938" cy="7132892"/>
        </p:xfrm>
        <a:graphic>
          <a:graphicData uri="http://schemas.openxmlformats.org/presentationml/2006/ole">
            <p:oleObj imgW="14478000" imgH="9537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-2846000" y="-190500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5. REL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ATIONSHIPS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61988" y="791551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0420" y="1425363"/>
            <a:ext cx="17307160" cy="8596017"/>
          </a:xfrm>
          <a:custGeom>
            <a:avLst/>
            <a:gdLst/>
            <a:ahLst/>
            <a:cxnLst/>
            <a:rect r="r" b="b" t="t" l="l"/>
            <a:pathLst>
              <a:path h="8596017" w="17307160">
                <a:moveTo>
                  <a:pt x="0" y="0"/>
                </a:moveTo>
                <a:lnTo>
                  <a:pt x="17307160" y="0"/>
                </a:lnTo>
                <a:lnTo>
                  <a:pt x="17307160" y="8596017"/>
                </a:lnTo>
                <a:lnTo>
                  <a:pt x="0" y="8596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41" r="0" b="-788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4577156" y="-190500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6.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ER DIAGRAM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1272" y="-62203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61988" y="791551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33668" y="1756497"/>
            <a:ext cx="10789644" cy="9119951"/>
          </a:xfrm>
          <a:custGeom>
            <a:avLst/>
            <a:gdLst/>
            <a:ahLst/>
            <a:cxnLst/>
            <a:rect r="r" b="b" t="t" l="l"/>
            <a:pathLst>
              <a:path h="9119951" w="10789644">
                <a:moveTo>
                  <a:pt x="0" y="0"/>
                </a:moveTo>
                <a:lnTo>
                  <a:pt x="10789644" y="0"/>
                </a:lnTo>
                <a:lnTo>
                  <a:pt x="10789644" y="9119951"/>
                </a:lnTo>
                <a:lnTo>
                  <a:pt x="0" y="9119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0" y="1577340"/>
          <a:ext cx="14330362" cy="7132320"/>
        </p:xfrm>
        <a:graphic>
          <a:graphicData uri="http://schemas.openxmlformats.org/presentationml/2006/ole">
            <p:oleObj imgW="17183100" imgH="999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-2942293" y="-122913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7. 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DATASET SUMMARY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6255" y="-338649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61988" y="791551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74525" y="73556"/>
            <a:ext cx="6636613" cy="4114800"/>
          </a:xfrm>
          <a:custGeom>
            <a:avLst/>
            <a:gdLst/>
            <a:ahLst/>
            <a:cxnLst/>
            <a:rect r="r" b="b" t="t" l="l"/>
            <a:pathLst>
              <a:path h="4114800" w="6636613">
                <a:moveTo>
                  <a:pt x="0" y="0"/>
                </a:moveTo>
                <a:lnTo>
                  <a:pt x="6636613" y="0"/>
                </a:lnTo>
                <a:lnTo>
                  <a:pt x="66366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6268" y="-190500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8.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SQL CONCEPTS DEMONSTRATED</a:t>
            </a:r>
          </a:p>
          <a:p>
            <a:pPr algn="ctr">
              <a:lnSpc>
                <a:spcPts val="139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629164" y="6290468"/>
            <a:ext cx="6636613" cy="4114800"/>
          </a:xfrm>
          <a:custGeom>
            <a:avLst/>
            <a:gdLst/>
            <a:ahLst/>
            <a:cxnLst/>
            <a:rect r="r" b="b" t="t" l="l"/>
            <a:pathLst>
              <a:path h="4114800" w="6636613">
                <a:moveTo>
                  <a:pt x="0" y="0"/>
                </a:moveTo>
                <a:lnTo>
                  <a:pt x="6636613" y="0"/>
                </a:lnTo>
                <a:lnTo>
                  <a:pt x="66366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4839604" y="2680776"/>
            <a:ext cx="27142344" cy="537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CREATE DATABASE and CREATE TABLE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PRIMARY KEY, FOREIGN KEY, NOT NULL and UNIQUE constraints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INSERT and SELECT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Multiple-table INNER JOINs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COUNT, AVG, MIN, MAX with GROUP BY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HAVING and ORDER BY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Subqueries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Reusable VIEW for student progress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RANK() window function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6255" y="-338649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90837" y="9590651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417554" y="-2735407"/>
            <a:ext cx="6486666" cy="5482858"/>
          </a:xfrm>
          <a:custGeom>
            <a:avLst/>
            <a:gdLst/>
            <a:ahLst/>
            <a:cxnLst/>
            <a:rect r="r" b="b" t="t" l="l"/>
            <a:pathLst>
              <a:path h="5482858" w="6486666">
                <a:moveTo>
                  <a:pt x="6486667" y="0"/>
                </a:moveTo>
                <a:lnTo>
                  <a:pt x="0" y="0"/>
                </a:lnTo>
                <a:lnTo>
                  <a:pt x="0" y="5482858"/>
                </a:lnTo>
                <a:lnTo>
                  <a:pt x="6486667" y="5482858"/>
                </a:lnTo>
                <a:lnTo>
                  <a:pt x="64866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-51824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9.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 KEY BUSINESS QUESTIONS</a:t>
            </a:r>
          </a:p>
          <a:p>
            <a:pPr algn="l">
              <a:lnSpc>
                <a:spcPts val="139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3349" y="2618944"/>
            <a:ext cx="16385951" cy="493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Which course has the highest student enrollment?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Which students have attendance below 75%?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the average assessment score for each student?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Who are the top-performing students?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How do courses compare in student performance?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How can students be ranked according to assessment results?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016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How can a student-wise progress report be generated?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2966" y="766065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32336" y="10287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638726" y="3708039"/>
            <a:ext cx="5971254" cy="4114800"/>
          </a:xfrm>
          <a:custGeom>
            <a:avLst/>
            <a:gdLst/>
            <a:ahLst/>
            <a:cxnLst/>
            <a:rect r="r" b="b" t="t" l="l"/>
            <a:pathLst>
              <a:path h="4114800" w="5971254">
                <a:moveTo>
                  <a:pt x="0" y="0"/>
                </a:moveTo>
                <a:lnTo>
                  <a:pt x="5971255" y="0"/>
                </a:lnTo>
                <a:lnTo>
                  <a:pt x="597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94516" y="3545858"/>
            <a:ext cx="5971254" cy="4114800"/>
          </a:xfrm>
          <a:custGeom>
            <a:avLst/>
            <a:gdLst/>
            <a:ahLst/>
            <a:cxnLst/>
            <a:rect r="r" b="b" t="t" l="l"/>
            <a:pathLst>
              <a:path h="4114800" w="5971254">
                <a:moveTo>
                  <a:pt x="0" y="0"/>
                </a:moveTo>
                <a:lnTo>
                  <a:pt x="5971254" y="0"/>
                </a:lnTo>
                <a:lnTo>
                  <a:pt x="5971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1162050" y="2171426"/>
          <a:ext cx="14330362" cy="7132320"/>
        </p:xfrm>
        <a:graphic>
          <a:graphicData uri="http://schemas.openxmlformats.org/presentationml/2006/ole">
            <p:oleObj imgW="17183100" imgH="999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162050" y="66058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10. SAMPL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E ANALYTICAL FINDINGS</a:t>
            </a:r>
          </a:p>
          <a:p>
            <a:pPr algn="ctr">
              <a:lnSpc>
                <a:spcPts val="139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2966" y="766065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32336" y="10287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29236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11. MANAGEM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ENT INSIGHTS</a:t>
            </a:r>
          </a:p>
          <a:p>
            <a:pPr algn="ctr">
              <a:lnSpc>
                <a:spcPts val="139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3764" y="2783650"/>
            <a:ext cx="17619201" cy="344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Science shows the strongest enrollment demand in the sample.</a:t>
            </a:r>
          </a:p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below the attendance threshold can be identified automatically.</a:t>
            </a:r>
          </a:p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Low-performing students can receive additional academic support.</a:t>
            </a:r>
          </a:p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High performers can be recognized through mentoring or advanced opportunities.</a:t>
            </a:r>
          </a:p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Course-wise performance analysis can guide academic improvements.</a:t>
            </a:r>
          </a:p>
          <a:p>
            <a:pPr algn="ctr">
              <a:lnSpc>
                <a:spcPts val="4594"/>
              </a:lnSpc>
              <a:spcBef>
                <a:spcPct val="0"/>
              </a:spcBef>
            </a:pPr>
            <a:r>
              <a:rPr lang="en-US" b="true" sz="3281">
                <a:solidFill>
                  <a:srgbClr val="2B6CB4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progress view provides a reusable management report.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2966" y="766065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32336" y="10287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5661580" y="-3010647"/>
            <a:ext cx="9026111" cy="7629324"/>
          </a:xfrm>
          <a:custGeom>
            <a:avLst/>
            <a:gdLst/>
            <a:ahLst/>
            <a:cxnLst/>
            <a:rect r="r" b="b" t="t" l="l"/>
            <a:pathLst>
              <a:path h="7629324" w="9026111">
                <a:moveTo>
                  <a:pt x="0" y="0"/>
                </a:moveTo>
                <a:lnTo>
                  <a:pt x="9026111" y="0"/>
                </a:lnTo>
                <a:lnTo>
                  <a:pt x="9026111" y="7629324"/>
                </a:lnTo>
                <a:lnTo>
                  <a:pt x="0" y="7629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7400" y="1166195"/>
            <a:ext cx="16230600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9"/>
              </a:lnSpc>
            </a:pP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12. CONCLUSION &amp; FUTUR</a:t>
            </a:r>
            <a:r>
              <a:rPr lang="en-US" sz="9999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E SCOPE</a:t>
            </a:r>
          </a:p>
          <a:p>
            <a:pPr algn="r">
              <a:lnSpc>
                <a:spcPts val="139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922175" y="4204671"/>
            <a:ext cx="606449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Poor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data quality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636" y="4072894"/>
            <a:ext cx="15760728" cy="35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TRAINPRO successfully implements a relational Training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 Institute Management System in MySQL.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The project demonstrates database design, referential integrity 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and analytical SQL.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scope: fee management, certificates, role-based login, 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web dashboard, feedback and automated alerts.</a:t>
            </a:r>
          </a:p>
          <a:p>
            <a:pPr algn="ctr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2B6CB4"/>
                </a:solidFill>
                <a:latin typeface="DM Sans Bold"/>
                <a:ea typeface="DM Sans Bold"/>
                <a:cs typeface="DM Sans Bold"/>
                <a:sym typeface="DM Sans Bold"/>
              </a:rPr>
              <a:t>Final deliverables: SQL script, ER diagram, project report, screenshots and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2966" y="766065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6C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3307" y="4077154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307" y="4902076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3307" y="5690796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3307" y="6539076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3307" y="7363997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3307" y="8152718"/>
            <a:ext cx="515045" cy="397053"/>
          </a:xfrm>
          <a:custGeom>
            <a:avLst/>
            <a:gdLst/>
            <a:ahLst/>
            <a:cxnLst/>
            <a:rect r="r" b="b" t="t" l="l"/>
            <a:pathLst>
              <a:path h="397053" w="515045">
                <a:moveTo>
                  <a:pt x="0" y="0"/>
                </a:moveTo>
                <a:lnTo>
                  <a:pt x="515045" y="0"/>
                </a:lnTo>
                <a:lnTo>
                  <a:pt x="515045" y="397053"/>
                </a:lnTo>
                <a:lnTo>
                  <a:pt x="0" y="39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486299" y="703538"/>
            <a:ext cx="6486666" cy="5482858"/>
          </a:xfrm>
          <a:custGeom>
            <a:avLst/>
            <a:gdLst/>
            <a:ahLst/>
            <a:cxnLst/>
            <a:rect r="r" b="b" t="t" l="l"/>
            <a:pathLst>
              <a:path h="5482858" w="6486666">
                <a:moveTo>
                  <a:pt x="0" y="0"/>
                </a:moveTo>
                <a:lnTo>
                  <a:pt x="6486667" y="0"/>
                </a:lnTo>
                <a:lnTo>
                  <a:pt x="6486667" y="5482858"/>
                </a:lnTo>
                <a:lnTo>
                  <a:pt x="0" y="5482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37190" y="3444967"/>
            <a:ext cx="12140101" cy="5889169"/>
          </a:xfrm>
          <a:custGeom>
            <a:avLst/>
            <a:gdLst/>
            <a:ahLst/>
            <a:cxnLst/>
            <a:rect r="r" b="b" t="t" l="l"/>
            <a:pathLst>
              <a:path h="5889169" w="12140101">
                <a:moveTo>
                  <a:pt x="0" y="0"/>
                </a:moveTo>
                <a:lnTo>
                  <a:pt x="12140100" y="0"/>
                </a:lnTo>
                <a:lnTo>
                  <a:pt x="12140100" y="5889168"/>
                </a:lnTo>
                <a:lnTo>
                  <a:pt x="0" y="5889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9405" y="3584407"/>
            <a:ext cx="22073788" cy="474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040"/>
              </a:lnSpc>
            </a:pPr>
            <a:r>
              <a:rPr lang="en-US" sz="13600">
                <a:solidFill>
                  <a:srgbClr val="2B6CB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  <a:p>
            <a:pPr algn="just">
              <a:lnSpc>
                <a:spcPts val="190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DAHXP0St3-Q</dc:identifier>
  <dcterms:modified xsi:type="dcterms:W3CDTF">2011-08-01T06:04:30Z</dcterms:modified>
  <cp:revision>1</cp:revision>
  <dc:title>aryanbochare4@gmail.com</dc:title>
</cp:coreProperties>
</file>